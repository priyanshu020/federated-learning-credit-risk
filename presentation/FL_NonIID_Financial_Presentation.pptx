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8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2342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0A2342"/>
                </a:solidFill>
                <a:latin typeface="Arial"/>
              </a:rPr>
              <a:t>Performance Metrics Across Scenarios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A234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Centralized</c:v>
                </c:pt>
                <c:pt idx="1">
                  <c:v>IID</c:v>
                </c:pt>
                <c:pt idx="2">
                  <c:v>70% Skew</c:v>
                </c:pt>
                <c:pt idx="3">
                  <c:v>90% Skew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80.72</c:v>
                </c:pt>
                <c:pt idx="1">
                  <c:v>80.8</c:v>
                </c:pt>
                <c:pt idx="2">
                  <c:v>66.930000000000007</c:v>
                </c:pt>
                <c:pt idx="3">
                  <c:v>64.38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C2-A943-B55B-54124C00069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Centralized</c:v>
                </c:pt>
                <c:pt idx="1">
                  <c:v>IID</c:v>
                </c:pt>
                <c:pt idx="2">
                  <c:v>70% Skew</c:v>
                </c:pt>
                <c:pt idx="3">
                  <c:v>90% Skew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22.91</c:v>
                </c:pt>
                <c:pt idx="1">
                  <c:v>23.96</c:v>
                </c:pt>
                <c:pt idx="2">
                  <c:v>62.7</c:v>
                </c:pt>
                <c:pt idx="3">
                  <c:v>65.790000000000006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1C2-A943-B55B-54124C00069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FFB3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Centralized</c:v>
                </c:pt>
                <c:pt idx="1">
                  <c:v>IID</c:v>
                </c:pt>
                <c:pt idx="2">
                  <c:v>70% Skew</c:v>
                </c:pt>
                <c:pt idx="3">
                  <c:v>90% Skew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34.450000000000003</c:v>
                </c:pt>
                <c:pt idx="1">
                  <c:v>35.57</c:v>
                </c:pt>
                <c:pt idx="2">
                  <c:v>45.61</c:v>
                </c:pt>
                <c:pt idx="3">
                  <c:v>44.97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1C2-A943-B55B-54124C00069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A6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A6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A2342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A2342"/>
                </a:solidFill>
                <a:latin typeface="Arial"/>
              </a:rPr>
              <a:t>FedAvg vs FedProx — Key Metrics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FedAvg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Accuracy 70%</c:v>
                </c:pt>
                <c:pt idx="1">
                  <c:v>Accuracy 90%</c:v>
                </c:pt>
                <c:pt idx="2">
                  <c:v>F1 70%</c:v>
                </c:pt>
                <c:pt idx="3">
                  <c:v>F1 90%</c:v>
                </c:pt>
                <c:pt idx="4">
                  <c:v>Log Loss 70%</c:v>
                </c:pt>
                <c:pt idx="5">
                  <c:v>Log Loss 90%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66.930000000000007</c:v>
                </c:pt>
                <c:pt idx="1">
                  <c:v>64.38</c:v>
                </c:pt>
                <c:pt idx="2">
                  <c:v>45.61</c:v>
                </c:pt>
                <c:pt idx="3">
                  <c:v>44.97</c:v>
                </c:pt>
                <c:pt idx="4">
                  <c:v>61.07</c:v>
                </c:pt>
                <c:pt idx="5">
                  <c:v>61.7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68-FE47-B262-196AE3AE3E1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FedProx</c:v>
                </c:pt>
              </c:strCache>
            </c:strRef>
          </c:tx>
          <c:spPr>
            <a:solidFill>
              <a:srgbClr val="FFB3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Accuracy 70%</c:v>
                </c:pt>
                <c:pt idx="1">
                  <c:v>Accuracy 90%</c:v>
                </c:pt>
                <c:pt idx="2">
                  <c:v>F1 70%</c:v>
                </c:pt>
                <c:pt idx="3">
                  <c:v>F1 90%</c:v>
                </c:pt>
                <c:pt idx="4">
                  <c:v>Log Loss 70%</c:v>
                </c:pt>
                <c:pt idx="5">
                  <c:v>Log Loss 90%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67.02</c:v>
                </c:pt>
                <c:pt idx="1">
                  <c:v>64.78</c:v>
                </c:pt>
                <c:pt idx="2">
                  <c:v>45.65</c:v>
                </c:pt>
                <c:pt idx="3">
                  <c:v>44.9</c:v>
                </c:pt>
                <c:pt idx="4">
                  <c:v>61.04</c:v>
                </c:pt>
                <c:pt idx="5">
                  <c:v>61.57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868-FE47-B262-196AE3AE3E1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A6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A6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1398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42A5F5"/>
                </a:solidFill>
              </a:rPr>
              <a:t>MAJOR RESEARCH PROJECT – PART II (ICT-652)  |  </a:t>
            </a:r>
            <a:r>
              <a:rPr lang="en-US" sz="900" kern="0" spc="150" dirty="0" err="1">
                <a:solidFill>
                  <a:srgbClr val="42A5F5"/>
                </a:solidFill>
              </a:rPr>
              <a:t>M.Tech</a:t>
            </a:r>
            <a:r>
              <a:rPr lang="en-US" sz="900" kern="0" spc="150" dirty="0">
                <a:solidFill>
                  <a:srgbClr val="42A5F5"/>
                </a:solidFill>
              </a:rPr>
              <a:t> CSE  |  MAY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6217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Performance Analysis of
</a:t>
            </a:r>
            <a:r>
              <a:rPr lang="en-US" sz="3000" b="1" dirty="0">
                <a:solidFill>
                  <a:srgbClr val="FFB300"/>
                </a:solidFill>
              </a:rPr>
              <a:t>Federated Learning </a:t>
            </a:r>
            <a:r>
              <a:rPr lang="en-US" sz="3000" b="1" dirty="0">
                <a:solidFill>
                  <a:srgbClr val="FFFFFF"/>
                </a:solidFill>
              </a:rPr>
              <a:t>under Non-IID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Financial Tabular Data Distributions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3017520"/>
            <a:ext cx="5669280" cy="36576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32004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Submitted by
</a:t>
            </a:r>
            <a:endParaRPr lang="en-US" sz="10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Priyanshu Bhardwaj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Enrollment: 02716404824  |  M.Tech CSE, IVth Semester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54880" y="32004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Guided by
</a:t>
            </a:r>
            <a:endParaRPr lang="en-US" sz="10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Dr. M. Bala Krishna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Professor, USICT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EC5"/>
                </a:solidFill>
              </a:rPr>
              <a:t>USICT, Guru Gobind Singh Indraprastha University, New Delhi</a:t>
            </a:r>
            <a:endParaRPr lang="en-US" sz="900" dirty="0"/>
          </a:p>
        </p:txBody>
      </p:sp>
      <p:pic>
        <p:nvPicPr>
          <p:cNvPr id="11" name="Picture 10" descr="A logo of a computer lab&#10;&#10;AI-generated content may be incorrect.">
            <a:extLst>
              <a:ext uri="{FF2B5EF4-FFF2-40B4-BE49-F238E27FC236}">
                <a16:creationId xmlns:a16="http://schemas.microsoft.com/office/drawing/2014/main" id="{CE50FB6B-FA3B-A0BB-71C0-7322063965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984" y="365760"/>
            <a:ext cx="2117376" cy="18632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PRESENTATION OUTLINE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502920" cy="7132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914400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2342"/>
                </a:solidFill>
              </a:rPr>
              <a:t>Introduction &amp; Background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874520"/>
            <a:ext cx="502920" cy="7132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87452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1874520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2342"/>
                </a:solidFill>
              </a:rPr>
              <a:t>Problem Statement &amp; Objectives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834640"/>
            <a:ext cx="502920" cy="7132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83464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2834640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2342"/>
                </a:solidFill>
              </a:rPr>
              <a:t>Methodology &amp; Experimental Design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794760"/>
            <a:ext cx="502920" cy="7132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79476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3794760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2342"/>
                </a:solidFill>
              </a:rPr>
              <a:t>Results – IID &amp; Label Skew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91440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914400"/>
            <a:ext cx="502920" cy="7132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91440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914400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2342"/>
                </a:solidFill>
              </a:rPr>
              <a:t>Results – Quantity Skew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187452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874520"/>
            <a:ext cx="502920" cy="7132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187452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40680" y="1874520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2342"/>
                </a:solidFill>
              </a:rPr>
              <a:t>FedAvg vs FedProx Comparison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0" y="283464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2834640"/>
            <a:ext cx="502920" cy="7132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83464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40680" y="2834640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2342"/>
                </a:solidFill>
              </a:rPr>
              <a:t>Explainability &amp; Practical Implications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846320" y="379476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3794760"/>
            <a:ext cx="502920" cy="7132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379476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440680" y="3794760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2342"/>
                </a:solidFill>
              </a:rPr>
              <a:t>Conclusion &amp; Future Work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INTRODUCTION &amp; BACKGROUND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743200" cy="4069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2743200" cy="502920"/>
          </a:xfrm>
          <a:prstGeom prst="rect">
            <a:avLst/>
          </a:prstGeom>
          <a:solidFill>
            <a:srgbClr val="1565C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87782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822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Privacy Challenge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1417320"/>
            <a:ext cx="2468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55A64"/>
                </a:solidFill>
              </a:rPr>
              <a:t>Digital financial systems generate massive sensitive transactional data. Centralized ML requires data sharing — raising privacy, compliance &amp; confidentiality concerns.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172968" y="822960"/>
            <a:ext cx="2743200" cy="4069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72968" y="822960"/>
            <a:ext cx="2743200" cy="502920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8" y="87782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75888" y="822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Federated Learning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310128" y="1417320"/>
            <a:ext cx="2468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55A64"/>
                </a:solidFill>
              </a:rPr>
              <a:t>FL enables collaborative training without sharing raw data. Each client trains locally, sharing only model parameters with a central server (McMahan et al., 2017).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25896" y="822960"/>
            <a:ext cx="2743200" cy="4069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025896" y="822960"/>
            <a:ext cx="2743200" cy="502920"/>
          </a:xfrm>
          <a:prstGeom prst="rect">
            <a:avLst/>
          </a:prstGeom>
          <a:solidFill>
            <a:srgbClr val="FFB30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7336" y="87782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28816" y="822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Non-IID Challenge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6163056" y="1417320"/>
            <a:ext cx="2468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55A64"/>
                </a:solidFill>
              </a:rPr>
              <a:t>Real-world FL clients have heterogeneous datasets. Class imbalances, feature differences and size variations violate the IID assumption, degrading convergence.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PROBLEM STATEMENT &amp; RESEARCH OBJECTIVES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023360" cy="4069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4023360" cy="41148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8229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PROBLEM STATEMENT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55A64"/>
                </a:solidFill>
              </a:rPr>
              <a:t>Heterogeneous datasets across FL clients violate the IID assumption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55A64"/>
                </a:solidFill>
              </a:rPr>
              <a:t>Label skew → conflicting gradient updates → slow convergence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55A64"/>
                </a:solidFill>
              </a:rPr>
              <a:t>Client drift: local models diverge from global optimization objective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55A64"/>
                </a:solidFill>
              </a:rPr>
              <a:t>Performance gap between federated and centralized learning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55A64"/>
                </a:solidFill>
              </a:rPr>
              <a:t>Limited systematic study of FL under controlled heterogeneity in finance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822960"/>
            <a:ext cx="4023360" cy="4069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22960"/>
            <a:ext cx="4023360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8229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RESEARCH OBJECTIVES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64608" y="1426464"/>
            <a:ext cx="256032" cy="256032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4864608" y="1426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12080" y="134416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55A64"/>
                </a:solidFill>
              </a:rPr>
              <a:t>Establish a centralized ML baseline for credit default prediction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64608" y="2103120"/>
            <a:ext cx="256032" cy="256032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4864608" y="2103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12080" y="2020824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55A64"/>
                </a:solidFill>
              </a:rPr>
              <a:t>Implement FL under IID distribution and compare with centralized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64608" y="2779776"/>
            <a:ext cx="256032" cy="256032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4864608" y="2779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12080" y="26974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55A64"/>
                </a:solidFill>
              </a:rPr>
              <a:t>Evaluate impact of label skew (70% and 90%) on FL performance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64608" y="3456432"/>
            <a:ext cx="256032" cy="256032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4864608" y="3456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12080" y="3374136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55A64"/>
                </a:solidFill>
              </a:rPr>
              <a:t>Examine quantity skew effects on convergence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64608" y="4133088"/>
            <a:ext cx="256032" cy="256032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4864608" y="4133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12080" y="405079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55A64"/>
                </a:solidFill>
              </a:rPr>
              <a:t>Compare FedAvg vs FedProx under Non-IID conditions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METHODOLOGY &amp; EXPERIMENTAL DESIGN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60520" cy="4087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416052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0467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DATASET &amp; CONFIGURATION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261872"/>
            <a:ext cx="4160520" cy="443484"/>
          </a:xfrm>
          <a:prstGeom prst="rect">
            <a:avLst/>
          </a:prstGeom>
          <a:solidFill>
            <a:srgbClr val="EDF2F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261872"/>
            <a:ext cx="137160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</a:rPr>
              <a:t>Dataset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783080" y="1261872"/>
            <a:ext cx="256032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</a:rPr>
              <a:t>UCI Credit Card Default (30,000 samples, 24 features)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705356"/>
            <a:ext cx="4160520" cy="4434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705356"/>
            <a:ext cx="137160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</a:rPr>
              <a:t>Split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783080" y="1705356"/>
            <a:ext cx="256032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</a:rPr>
              <a:t>80–20 (24,000 train / 6,000 test), stratified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148840"/>
            <a:ext cx="4160520" cy="443484"/>
          </a:xfrm>
          <a:prstGeom prst="rect">
            <a:avLst/>
          </a:prstGeom>
          <a:solidFill>
            <a:srgbClr val="EDF2FB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148840"/>
            <a:ext cx="137160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</a:rPr>
              <a:t>Model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783080" y="2148840"/>
            <a:ext cx="256032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</a:rPr>
              <a:t>Logistic Regression (SGDClassifier, logistic loss)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592324"/>
            <a:ext cx="4160520" cy="4434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592324"/>
            <a:ext cx="137160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</a:rPr>
              <a:t>Clients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783080" y="2592324"/>
            <a:ext cx="256032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</a:rPr>
              <a:t>10 federated clients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035808"/>
            <a:ext cx="4160520" cy="443484"/>
          </a:xfrm>
          <a:prstGeom prst="rect">
            <a:avLst/>
          </a:prstGeom>
          <a:solidFill>
            <a:srgbClr val="EDF2FB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035808"/>
            <a:ext cx="137160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</a:rPr>
              <a:t>Rounds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783080" y="3035808"/>
            <a:ext cx="256032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</a:rPr>
              <a:t>40 communication rounds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479292"/>
            <a:ext cx="4160520" cy="4434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479292"/>
            <a:ext cx="137160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</a:rPr>
              <a:t>Local Epochs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783080" y="3479292"/>
            <a:ext cx="256032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</a:rPr>
              <a:t>10 per round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922776"/>
            <a:ext cx="4160520" cy="443484"/>
          </a:xfrm>
          <a:prstGeom prst="rect">
            <a:avLst/>
          </a:prstGeom>
          <a:solidFill>
            <a:srgbClr val="EDF2FB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922776"/>
            <a:ext cx="137160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</a:rPr>
              <a:t>Learning Rate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783080" y="3922776"/>
            <a:ext cx="256032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</a:rPr>
              <a:t>0.0005 (constant)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366260"/>
            <a:ext cx="4160520" cy="4434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4366260"/>
            <a:ext cx="137160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</a:rPr>
              <a:t>Platform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783080" y="4366260"/>
            <a:ext cx="256032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</a:rPr>
              <a:t>Python: Scikit-learn, NumPy, Pandas | Apple M1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804672"/>
            <a:ext cx="4114800" cy="4087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804672"/>
            <a:ext cx="4114800" cy="38404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8046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PARTITIONING SCENARIOS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1298448"/>
            <a:ext cx="1188720" cy="6858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1298448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IID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126480" y="13258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A64"/>
                </a:solidFill>
              </a:rPr>
              <a:t>Equal random split (2,400 samples/client). Balanced class distribution. Ideal federated environment.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46320" y="2148840"/>
            <a:ext cx="1188720" cy="68580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214884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Label Skew 70%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126480" y="217627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A64"/>
                </a:solidFill>
              </a:rPr>
              <a:t>70% samples from one dominant class per client. Introduces moderate statistical heterogeneity.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846320" y="2999232"/>
            <a:ext cx="1188720" cy="6858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0" y="2999232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Label Skew 90%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126480" y="3026664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A64"/>
                </a:solidFill>
              </a:rPr>
              <a:t>90% samples from one class per client. Severe heterogeneity — strong client drift expected.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846320" y="3849624"/>
            <a:ext cx="1188720" cy="6858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4" name="Text 42"/>
          <p:cNvSpPr/>
          <p:nvPr/>
        </p:nvSpPr>
        <p:spPr>
          <a:xfrm>
            <a:off x="4846320" y="3849624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Quantity Skew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126480" y="3877056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A64"/>
                </a:solidFill>
              </a:rPr>
              <a:t>2 clients: 8,000 samples each. 8 clients: 1,000 samples each. Class distribution remains balanced.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RESULTS – CENTRALIZED BASELINE &amp; IID FEDERATED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023360" cy="4087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4023360" cy="384048"/>
          </a:xfrm>
          <a:prstGeom prst="rect">
            <a:avLst/>
          </a:prstGeom>
          <a:solidFill>
            <a:srgbClr val="455A64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046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CENTRALIZED BASELINE (LOGISTIC REGRESSION)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2984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Accuracy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129844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455A64"/>
                </a:solidFill>
              </a:rPr>
              <a:t>80.72%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645920"/>
            <a:ext cx="3291840" cy="201168"/>
          </a:xfrm>
          <a:prstGeom prst="rect">
            <a:avLst/>
          </a:prstGeom>
          <a:solidFill>
            <a:srgbClr val="E0E6F0"/>
          </a:solidFill>
          <a:ln/>
        </p:spPr>
      </p:sp>
      <p:sp>
        <p:nvSpPr>
          <p:cNvPr id="10" name="Shape 8"/>
          <p:cNvSpPr/>
          <p:nvPr/>
        </p:nvSpPr>
        <p:spPr>
          <a:xfrm>
            <a:off x="411480" y="1645920"/>
            <a:ext cx="2657173" cy="201168"/>
          </a:xfrm>
          <a:prstGeom prst="rect">
            <a:avLst/>
          </a:prstGeom>
          <a:solidFill>
            <a:srgbClr val="455A64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04825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Precision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204825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455A64"/>
                </a:solidFill>
              </a:rPr>
              <a:t>69.41%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395728"/>
            <a:ext cx="3291840" cy="201168"/>
          </a:xfrm>
          <a:prstGeom prst="rect">
            <a:avLst/>
          </a:prstGeom>
          <a:solidFill>
            <a:srgbClr val="E0E6F0"/>
          </a:solidFill>
          <a:ln/>
        </p:spPr>
      </p:sp>
      <p:sp>
        <p:nvSpPr>
          <p:cNvPr id="14" name="Shape 12"/>
          <p:cNvSpPr/>
          <p:nvPr/>
        </p:nvSpPr>
        <p:spPr>
          <a:xfrm>
            <a:off x="411480" y="2395728"/>
            <a:ext cx="2284866" cy="201168"/>
          </a:xfrm>
          <a:prstGeom prst="rect">
            <a:avLst/>
          </a:prstGeom>
          <a:solidFill>
            <a:srgbClr val="455A64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79806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Recall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279806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455A64"/>
                </a:solidFill>
              </a:rPr>
              <a:t>22.91%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" y="3145536"/>
            <a:ext cx="3291840" cy="201168"/>
          </a:xfrm>
          <a:prstGeom prst="rect">
            <a:avLst/>
          </a:prstGeom>
          <a:solidFill>
            <a:srgbClr val="E0E6F0"/>
          </a:solidFill>
          <a:ln/>
        </p:spPr>
      </p:sp>
      <p:sp>
        <p:nvSpPr>
          <p:cNvPr id="18" name="Shape 16"/>
          <p:cNvSpPr/>
          <p:nvPr/>
        </p:nvSpPr>
        <p:spPr>
          <a:xfrm>
            <a:off x="411480" y="3145536"/>
            <a:ext cx="754161" cy="201168"/>
          </a:xfrm>
          <a:prstGeom prst="rect">
            <a:avLst/>
          </a:prstGeom>
          <a:solidFill>
            <a:srgbClr val="455A64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354787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F1-Score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0" y="354787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455A64"/>
                </a:solidFill>
              </a:rPr>
              <a:t>34.45%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" y="3895344"/>
            <a:ext cx="3291840" cy="201168"/>
          </a:xfrm>
          <a:prstGeom prst="rect">
            <a:avLst/>
          </a:prstGeom>
          <a:solidFill>
            <a:srgbClr val="E0E6F0"/>
          </a:solidFill>
          <a:ln/>
        </p:spPr>
      </p:sp>
      <p:sp>
        <p:nvSpPr>
          <p:cNvPr id="22" name="Shape 20"/>
          <p:cNvSpPr/>
          <p:nvPr/>
        </p:nvSpPr>
        <p:spPr>
          <a:xfrm>
            <a:off x="411480" y="3895344"/>
            <a:ext cx="1134039" cy="201168"/>
          </a:xfrm>
          <a:prstGeom prst="rect">
            <a:avLst/>
          </a:prstGeom>
          <a:solidFill>
            <a:srgbClr val="455A64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43434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62828"/>
                </a:solidFill>
              </a:rPr>
              <a:t>⚠  Low recall (22.91%) due to class imbalance — model misses 1,023 actual defaults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804672"/>
            <a:ext cx="4023360" cy="4087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804672"/>
            <a:ext cx="4023360" cy="38404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8046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FEDERATED LEARNING — IID DISTRIBUTION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92040" y="12984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</a:rPr>
              <a:t>Accuracy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589520" y="1298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7D32"/>
                </a:solidFill>
              </a:rPr>
              <a:t>80.80%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92040" y="1591056"/>
            <a:ext cx="3291840" cy="182880"/>
          </a:xfrm>
          <a:prstGeom prst="rect">
            <a:avLst/>
          </a:prstGeom>
          <a:solidFill>
            <a:srgbClr val="E0F0E8"/>
          </a:solidFill>
          <a:ln/>
        </p:spPr>
      </p:sp>
      <p:sp>
        <p:nvSpPr>
          <p:cNvPr id="30" name="Shape 28"/>
          <p:cNvSpPr/>
          <p:nvPr/>
        </p:nvSpPr>
        <p:spPr>
          <a:xfrm>
            <a:off x="4892040" y="1591056"/>
            <a:ext cx="2659807" cy="1828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19110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</a:rPr>
              <a:t>Precision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589520" y="19110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7D32"/>
                </a:solidFill>
              </a:rPr>
              <a:t>68.98%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92040" y="2203704"/>
            <a:ext cx="3291840" cy="182880"/>
          </a:xfrm>
          <a:prstGeom prst="rect">
            <a:avLst/>
          </a:prstGeom>
          <a:solidFill>
            <a:srgbClr val="E0F0E8"/>
          </a:solidFill>
          <a:ln/>
        </p:spPr>
      </p:sp>
      <p:sp>
        <p:nvSpPr>
          <p:cNvPr id="34" name="Shape 32"/>
          <p:cNvSpPr/>
          <p:nvPr/>
        </p:nvSpPr>
        <p:spPr>
          <a:xfrm>
            <a:off x="4892040" y="2203704"/>
            <a:ext cx="2270711" cy="1828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5" name="Text 33"/>
          <p:cNvSpPr/>
          <p:nvPr/>
        </p:nvSpPr>
        <p:spPr>
          <a:xfrm>
            <a:off x="4892040" y="25237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</a:rPr>
              <a:t>Recall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589520" y="25237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7D32"/>
                </a:solidFill>
              </a:rPr>
              <a:t>23.96%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92040" y="2816352"/>
            <a:ext cx="3291840" cy="182880"/>
          </a:xfrm>
          <a:prstGeom prst="rect">
            <a:avLst/>
          </a:prstGeom>
          <a:solidFill>
            <a:srgbClr val="E0F0E8"/>
          </a:solidFill>
          <a:ln/>
        </p:spPr>
      </p:sp>
      <p:sp>
        <p:nvSpPr>
          <p:cNvPr id="38" name="Shape 36"/>
          <p:cNvSpPr/>
          <p:nvPr/>
        </p:nvSpPr>
        <p:spPr>
          <a:xfrm>
            <a:off x="4892040" y="2816352"/>
            <a:ext cx="788725" cy="1828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9" name="Text 37"/>
          <p:cNvSpPr/>
          <p:nvPr/>
        </p:nvSpPr>
        <p:spPr>
          <a:xfrm>
            <a:off x="4892040" y="31363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</a:rPr>
              <a:t>F1-Score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589520" y="3136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7D32"/>
                </a:solidFill>
              </a:rPr>
              <a:t>35.57%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892040" y="3429000"/>
            <a:ext cx="3291840" cy="182880"/>
          </a:xfrm>
          <a:prstGeom prst="rect">
            <a:avLst/>
          </a:prstGeom>
          <a:solidFill>
            <a:srgbClr val="E0F0E8"/>
          </a:solidFill>
          <a:ln/>
        </p:spPr>
      </p:sp>
      <p:sp>
        <p:nvSpPr>
          <p:cNvPr id="42" name="Shape 40"/>
          <p:cNvSpPr/>
          <p:nvPr/>
        </p:nvSpPr>
        <p:spPr>
          <a:xfrm>
            <a:off x="4892040" y="3429000"/>
            <a:ext cx="1170907" cy="1828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3" name="Text 41"/>
          <p:cNvSpPr/>
          <p:nvPr/>
        </p:nvSpPr>
        <p:spPr>
          <a:xfrm>
            <a:off x="4892040" y="3749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</a:rPr>
              <a:t>Log Loss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7589520" y="3749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7D32"/>
                </a:solidFill>
              </a:rPr>
              <a:t>0.4710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892040" y="4041648"/>
            <a:ext cx="3291840" cy="182880"/>
          </a:xfrm>
          <a:prstGeom prst="rect">
            <a:avLst/>
          </a:prstGeom>
          <a:solidFill>
            <a:srgbClr val="E0F0E8"/>
          </a:solidFill>
          <a:ln/>
        </p:spPr>
      </p:sp>
      <p:sp>
        <p:nvSpPr>
          <p:cNvPr id="46" name="Shape 44"/>
          <p:cNvSpPr/>
          <p:nvPr/>
        </p:nvSpPr>
        <p:spPr>
          <a:xfrm>
            <a:off x="4892040" y="4041648"/>
            <a:ext cx="1550457" cy="1828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7" name="Shape 45"/>
          <p:cNvSpPr/>
          <p:nvPr/>
        </p:nvSpPr>
        <p:spPr>
          <a:xfrm>
            <a:off x="4754880" y="4251960"/>
            <a:ext cx="4023360" cy="4572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8" name="Text 46"/>
          <p:cNvSpPr/>
          <p:nvPr/>
        </p:nvSpPr>
        <p:spPr>
          <a:xfrm>
            <a:off x="4846320" y="4251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</a:rPr>
              <a:t>✔  Converges in ~10–15 rounds. Matches centralized performance — IID FL is viable!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RESULTS – IMPACT OF LABEL SKEW</a:t>
            </a:r>
            <a:endParaRPr lang="en-US" sz="1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49808"/>
          <a:ext cx="53035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749808"/>
            <a:ext cx="31546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760720" y="749808"/>
            <a:ext cx="3154680" cy="36576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7" name="Text 4"/>
          <p:cNvSpPr/>
          <p:nvPr/>
        </p:nvSpPr>
        <p:spPr>
          <a:xfrm>
            <a:off x="5760720" y="7498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342"/>
                </a:solidFill>
              </a:rPr>
              <a:t>KEY OBSERVATIONS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852160" y="1289304"/>
            <a:ext cx="274320" cy="27432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9" name="Text 6"/>
          <p:cNvSpPr/>
          <p:nvPr/>
        </p:nvSpPr>
        <p:spPr>
          <a:xfrm>
            <a:off x="5852160" y="1289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↓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199632" y="1216152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A64"/>
                </a:solidFill>
              </a:rPr>
              <a:t>Accuracy drops from 80.8% (IID) → 66.9% (70% skew) → 64.4% (90% skew)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852160" y="2020824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2" name="Text 9"/>
          <p:cNvSpPr/>
          <p:nvPr/>
        </p:nvSpPr>
        <p:spPr>
          <a:xfrm>
            <a:off x="5852160" y="2020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↑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99632" y="1947672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A64"/>
                </a:solidFill>
              </a:rPr>
              <a:t>Recall increases: 23.96% → 62.70% → 65.79% — model favors default class detection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852160" y="2752344"/>
            <a:ext cx="274320" cy="274320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15" name="Text 12"/>
          <p:cNvSpPr/>
          <p:nvPr/>
        </p:nvSpPr>
        <p:spPr>
          <a:xfrm>
            <a:off x="5852160" y="2752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⚡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199632" y="2679192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A64"/>
                </a:solidFill>
              </a:rPr>
              <a:t>Label skew causes client drift — local gradients conflict during FedAvg aggregation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852160" y="3483864"/>
            <a:ext cx="274320" cy="27432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8" name="Text 15"/>
          <p:cNvSpPr/>
          <p:nvPr/>
        </p:nvSpPr>
        <p:spPr>
          <a:xfrm>
            <a:off x="5852160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→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199632" y="3410712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A64"/>
                </a:solidFill>
              </a:rPr>
              <a:t>Model stabilizes in ~10–15 rounds even under skew, but at lower accuracy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274320" y="4370832"/>
            <a:ext cx="8641080" cy="502920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21" name="Text 18"/>
          <p:cNvSpPr/>
          <p:nvPr/>
        </p:nvSpPr>
        <p:spPr>
          <a:xfrm>
            <a:off x="365760" y="4370832"/>
            <a:ext cx="8458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A2342"/>
                </a:solidFill>
              </a:rPr>
              <a:t>Label skew significantly degrades federated accuracy due to heterogeneous class distributions producing conflicting local gradients — a key challenge for financial FL systems.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RESULTS – QUANTITY SKEW ANALYSIS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22860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F1-Score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Log Loss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Centralized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0.8072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0.6941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0.2291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0.3445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FL – IID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0.8080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0.6898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0.2396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0.3557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0.4710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</a:rPr>
                        <a:t>FL – 70% Label Skew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</a:rPr>
                        <a:t>0.6693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0.3585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0.6270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0.4561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0.6107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</a:rPr>
                        <a:t>FL – 90% Label Skew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</a:rPr>
                        <a:t>0.6438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0.3415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0.6579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0.4497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0.6170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</a:rPr>
                        <a:t>FL – Quantity Skew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0.8080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0.6993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0.2313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0.3477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0.4711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246120"/>
            <a:ext cx="27889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3246120"/>
            <a:ext cx="2788920" cy="34747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324612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Quantity Skew ≈ IID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65760" y="365760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</a:rPr>
              <a:t>Despite 2 clients having 8× more data (8,000 vs 1,000 samples), accuracy remains at 80.80%. Class distribution is balanced, so gradients align well during FedAvg aggregation.</a:t>
            </a:r>
            <a:endParaRPr lang="en-US" sz="1000" dirty="0"/>
          </a:p>
        </p:txBody>
      </p:sp>
      <p:sp>
        <p:nvSpPr>
          <p:cNvPr id="4" name="Shape 6"/>
          <p:cNvSpPr/>
          <p:nvPr/>
        </p:nvSpPr>
        <p:spPr>
          <a:xfrm>
            <a:off x="3200400" y="3246120"/>
            <a:ext cx="27889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0" y="3246120"/>
            <a:ext cx="2788920" cy="34747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1" name="Text 8"/>
          <p:cNvSpPr/>
          <p:nvPr/>
        </p:nvSpPr>
        <p:spPr>
          <a:xfrm>
            <a:off x="3200400" y="324612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Label Skew is Damaging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291840" y="365760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</a:rPr>
              <a:t>Label skew directly alters the learning objective at each client. Conflicting class distributions produce divergent updates — the root cause of performance degradation.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126480" y="3246120"/>
            <a:ext cx="27889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126480" y="3246120"/>
            <a:ext cx="2788920" cy="3474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2"/>
          <p:cNvSpPr/>
          <p:nvPr/>
        </p:nvSpPr>
        <p:spPr>
          <a:xfrm>
            <a:off x="6126480" y="324612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Key Distinction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217920" y="365760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</a:rPr>
              <a:t>Quantity skew affects the magnitude of client contributions. Label skew affects the direction of optimization. The latter is far more harmful for FL convergence.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COMPARATIVE ANALYSIS — FedAvg vs FedProx</a:t>
            </a:r>
            <a:endParaRPr lang="en-US" sz="1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49808"/>
          <a:ext cx="50292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486400" y="749808"/>
            <a:ext cx="342900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0" y="749808"/>
            <a:ext cx="3429000" cy="36576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0" y="74980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ALGORITHM CHARACTERISTICS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0" y="1188720"/>
            <a:ext cx="3429000" cy="475488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9" name="Text 6"/>
          <p:cNvSpPr/>
          <p:nvPr/>
        </p:nvSpPr>
        <p:spPr>
          <a:xfrm>
            <a:off x="5532120" y="118872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</a:rPr>
              <a:t>Strategy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766560" y="118872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565C0"/>
                </a:solidFill>
              </a:rPr>
              <a:t>Weighted avg.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818120" y="118872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B300"/>
                </a:solidFill>
              </a:rPr>
              <a:t>Proximal reg.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486400" y="1664208"/>
            <a:ext cx="34290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5532120" y="166420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</a:rPr>
              <a:t>Non-IID handling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766560" y="166420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565C0"/>
                </a:solidFill>
              </a:rPr>
              <a:t>Moderate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818120" y="166420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B300"/>
                </a:solidFill>
              </a:rPr>
              <a:t>Better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486400" y="2139696"/>
            <a:ext cx="3429000" cy="475488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17" name="Text 14"/>
          <p:cNvSpPr/>
          <p:nvPr/>
        </p:nvSpPr>
        <p:spPr>
          <a:xfrm>
            <a:off x="5532120" y="2139696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</a:rPr>
              <a:t>Complexity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766560" y="213969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565C0"/>
                </a:solidFill>
              </a:rPr>
              <a:t>Lower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818120" y="213969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B300"/>
                </a:solidFill>
              </a:rPr>
              <a:t>Slightly higher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486400" y="2615184"/>
            <a:ext cx="34290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8"/>
          <p:cNvSpPr/>
          <p:nvPr/>
        </p:nvSpPr>
        <p:spPr>
          <a:xfrm>
            <a:off x="5532120" y="261518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</a:rPr>
              <a:t>Severe skew stability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766560" y="2615184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565C0"/>
                </a:solidFill>
              </a:rPr>
              <a:t>Lower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818120" y="2615184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B300"/>
                </a:solidFill>
              </a:rPr>
              <a:t>Higher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486400" y="3090672"/>
            <a:ext cx="3429000" cy="475488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25" name="Text 22"/>
          <p:cNvSpPr/>
          <p:nvPr/>
        </p:nvSpPr>
        <p:spPr>
          <a:xfrm>
            <a:off x="5532120" y="309067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</a:rPr>
              <a:t>Convergence 70%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766560" y="309067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565C0"/>
                </a:solidFill>
              </a:rPr>
              <a:t>~10–15 rounds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7818120" y="309067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B300"/>
                </a:solidFill>
              </a:rPr>
              <a:t>~10–15 rounds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5486400" y="3566160"/>
            <a:ext cx="34290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6"/>
          <p:cNvSpPr/>
          <p:nvPr/>
        </p:nvSpPr>
        <p:spPr>
          <a:xfrm>
            <a:off x="5532120" y="356616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</a:rPr>
              <a:t>Performance gain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6766560" y="356616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565C0"/>
                </a:solidFill>
              </a:rPr>
              <a:t>Baseline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818120" y="356616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B300"/>
                </a:solidFill>
              </a:rPr>
              <a:t>Marginal ↑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274320" y="4187952"/>
            <a:ext cx="8641080" cy="685800"/>
          </a:xfrm>
          <a:prstGeom prst="rect">
            <a:avLst/>
          </a:prstGeom>
          <a:solidFill>
            <a:srgbClr val="EBF3FE"/>
          </a:solidFill>
          <a:ln/>
        </p:spPr>
      </p:sp>
      <p:sp>
        <p:nvSpPr>
          <p:cNvPr id="33" name="Text 30"/>
          <p:cNvSpPr/>
          <p:nvPr/>
        </p:nvSpPr>
        <p:spPr>
          <a:xfrm>
            <a:off x="365760" y="4187952"/>
            <a:ext cx="8458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</a:rPr>
              <a:t>FedProx</a:t>
            </a:r>
            <a:r>
              <a:rPr lang="en-US" sz="1000" dirty="0">
                <a:solidFill>
                  <a:srgbClr val="0A2342"/>
                </a:solidFill>
              </a:rPr>
              <a:t> outperforms FedAvg under </a:t>
            </a:r>
            <a:r>
              <a:rPr lang="en-US" sz="1000" b="1" dirty="0">
                <a:solidFill>
                  <a:srgbClr val="C62828"/>
                </a:solidFill>
              </a:rPr>
              <a:t>severe label skew (90%)</a:t>
            </a:r>
            <a:r>
              <a:rPr lang="en-US" sz="1000" dirty="0">
                <a:solidFill>
                  <a:srgbClr val="0A2342"/>
                </a:solidFill>
              </a:rPr>
              <a:t> — higher accuracy (64.78% vs 64.38%) and lower log loss. However, gains are modest with logistic regression, suggesting need for advanced optimization with complex models.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EXPLAINABILITY &amp; PRACTICAL IMPLICATIONS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14800" cy="4087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411480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046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EXPLAINABILITY (XAI) IN FEDERATED CREDIT RISK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Why Needed?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A64"/>
                </a:solidFill>
              </a:rPr>
              <a:t>Financial institutions must justify automated lending decisions to customers, auditors, and regulators — interpretability is mandatory.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2148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LIME &amp; SHAP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4231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A64"/>
                </a:solidFill>
              </a:rPr>
              <a:t>Post-hoc explanation methods can identify which features (repayment status, credit utilization, billing amounts) drive default predictions in the global federated model.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3017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Heterogeneity Insight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2918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A64"/>
                </a:solidFill>
              </a:rPr>
              <a:t>Comparing feature importance across IID vs Non-IID scenarios can reveal how client drift affects which predictors the global model relies on.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3886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Future Integration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41605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A64"/>
                </a:solidFill>
              </a:rPr>
              <a:t>Applying LIME/SHAP to this study's federated models is a direct extension — enabling performance analysis + interpretability for regulatory compliance.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09160" y="804672"/>
            <a:ext cx="4114800" cy="4087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804672"/>
            <a:ext cx="4114800" cy="38404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8046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PRACTICAL IMPLICATIONS FOR FINANCIAL INSTITUTIONS</a:t>
            </a:r>
            <a:endParaRPr lang="en-US" sz="9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325880"/>
            <a:ext cx="320040" cy="32004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257800" y="1280160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A64"/>
                </a:solidFill>
              </a:rPr>
              <a:t>Banks with similar customer distributions are best suited for federated training. Evaluate distributional characteristics before deployment.</a:t>
            </a:r>
            <a:endParaRPr lang="en-US" sz="11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194560"/>
            <a:ext cx="320040" cy="32004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257800" y="2148840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A64"/>
                </a:solidFill>
              </a:rPr>
              <a:t>Performance–privacy trade-off is real: centralized always outperforms FL, but FL preserves compliance &amp; data ownership.</a:t>
            </a:r>
            <a:endParaRPr lang="en-US" sz="11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063240"/>
            <a:ext cx="320040" cy="3200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257800" y="3017520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A64"/>
                </a:solidFill>
              </a:rPr>
              <a:t>Severe heterogeneity warrants personalized FL, adaptive weighting, or transfer learning beyond FedAvg/FedProx.</a:t>
            </a:r>
            <a:endParaRPr lang="en-US" sz="11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931920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257800" y="3886200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A64"/>
                </a:solidFill>
              </a:rPr>
              <a:t>FL is viable for privacy-preserving credit risk prediction when data distributions across partner institutions are not excessively skewed.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CONCLUSION &amp; FUTURE WORK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788920" cy="2468880"/>
          </a:xfrm>
          <a:prstGeom prst="rect">
            <a:avLst/>
          </a:prstGeom>
          <a:solidFill>
            <a:srgbClr val="122A54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868680"/>
            <a:ext cx="594360" cy="594360"/>
          </a:xfrm>
          <a:prstGeom prst="ellipse">
            <a:avLst/>
          </a:prstGeom>
          <a:solidFill>
            <a:srgbClr val="42A5F5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868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2342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2A5F5"/>
                </a:solidFill>
              </a:rPr>
              <a:t>IID Performance Match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993392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FL (FedAvg) achieves 80.80% accuracy under IID — virtually identical to centralized (80.72%). Federated training works when client datasets are statistically similar.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54680" y="804672"/>
            <a:ext cx="2788920" cy="2468880"/>
          </a:xfrm>
          <a:prstGeom prst="rect">
            <a:avLst/>
          </a:prstGeom>
          <a:solidFill>
            <a:srgbClr val="122A54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51960" y="868680"/>
            <a:ext cx="594360" cy="594360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11" name="Text 9"/>
          <p:cNvSpPr/>
          <p:nvPr/>
        </p:nvSpPr>
        <p:spPr>
          <a:xfrm>
            <a:off x="4251960" y="868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2342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46120" y="1600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300"/>
                </a:solidFill>
              </a:rPr>
              <a:t>Label Skew is the Critical Challenge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46120" y="1993392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Accuracy drops to 66.93% (70% skew) and 64.38% (90% skew). Label heterogeneity causes client drift and conflicting gradients — the primary obstacle in financial FL.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804672"/>
            <a:ext cx="2788920" cy="2468880"/>
          </a:xfrm>
          <a:prstGeom prst="rect">
            <a:avLst/>
          </a:prstGeom>
          <a:solidFill>
            <a:srgbClr val="122A54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0" y="868680"/>
            <a:ext cx="594360" cy="5943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0" y="868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2342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126480" y="1600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</a:rPr>
              <a:t>FedProx Improves Robustness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1993392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Under severe skew, FedProx achieves 64.78% accuracy (vs 64.38% FedAvg) and lower log loss. Proximal regularization constrains local drift — more effective at high heterogeneity.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401568"/>
            <a:ext cx="8641080" cy="150876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20" name="Shape 18"/>
          <p:cNvSpPr/>
          <p:nvPr/>
        </p:nvSpPr>
        <p:spPr>
          <a:xfrm>
            <a:off x="274320" y="3401568"/>
            <a:ext cx="8641080" cy="36576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3401568"/>
            <a:ext cx="8641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</a:rPr>
              <a:t>FUTURE DIRECTIONS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3822192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B0BEC5"/>
                </a:solidFill>
              </a:rPr>
              <a:t>Advanced models (neural networks, gradient boosting) to reduce performance gap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B0BEC5"/>
                </a:solidFill>
              </a:rPr>
              <a:t>SCAFFOLD, FedNova, personalized FL for heterogeneous settings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B0BEC5"/>
                </a:solidFill>
              </a:rPr>
              <a:t>Feature distribution shift, concept drift, temporal variation in Non-IID scenarios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B0BEC5"/>
                </a:solidFill>
              </a:rPr>
              <a:t>Differential privacy + secure aggregation for stronger privacy guarantees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B0BEC5"/>
                </a:solidFill>
              </a:rPr>
              <a:t>LIME / SHAP integration for explainable federated credit risk decisions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THANK YOU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200400" y="1920240"/>
            <a:ext cx="2743200" cy="4572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1031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0BEC5"/>
                </a:solidFill>
              </a:rPr>
              <a:t>Priyanshu Bhardwaj  |  02716404824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0BEC5"/>
                </a:solidFill>
              </a:rPr>
              <a:t>M.Tech CSE, IVth Semester  |  USICT, GGSIPU, New Delhi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2A5F5"/>
                </a:solidFill>
              </a:rPr>
              <a:t>Guided by: Dr. M. Bala Krishna, Professor, USICT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33375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0BEC5"/>
                </a:solidFill>
              </a:rPr>
              <a:t>"Performance Analysis of Federated Learning under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B0BEC5"/>
                </a:solidFill>
              </a:rPr>
              <a:t>Non-IID Financial Tabular Data Distributions"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0" y="4206240"/>
            <a:ext cx="3657600" cy="548640"/>
          </a:xfrm>
          <a:prstGeom prst="rect">
            <a:avLst/>
          </a:prstGeom>
          <a:solidFill>
            <a:srgbClr val="0D1F3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B300"/>
                </a:solidFill>
              </a:rPr>
              <a:t>Open for Questions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1296</Words>
  <Application>Microsoft Macintosh PowerPoint</Application>
  <PresentationFormat>On-screen Show (16:9)</PresentationFormat>
  <Paragraphs>229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Analysis of Federated Learning under Non-IID Financial Tabular Data Distributions</dc:title>
  <dc:subject>PptxGenJS Presentation</dc:subject>
  <dc:creator>Priyanshu Bhardwaj</dc:creator>
  <cp:lastModifiedBy>Microsoft Office User</cp:lastModifiedBy>
  <cp:revision>4</cp:revision>
  <dcterms:created xsi:type="dcterms:W3CDTF">2026-05-20T21:55:29Z</dcterms:created>
  <dcterms:modified xsi:type="dcterms:W3CDTF">2026-06-02T08:35:46Z</dcterms:modified>
</cp:coreProperties>
</file>